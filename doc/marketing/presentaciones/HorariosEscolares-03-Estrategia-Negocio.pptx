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F9C846">
              <a:alpha val="12000"/>
            </a:srgbClr>
          </a:solidFill>
          <a:ln w="12700">
            <a:solidFill>
              <a:srgbClr val="F9C84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4ECDC4">
              <a:alpha val="10000"/>
            </a:srgbClr>
          </a:solidFill>
          <a:ln w="12700">
            <a:solidFill>
              <a:srgbClr val="4ECDC4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Estrategia de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Negocio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Monetización · Redes Sociales · Costes · Go-to-Market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1920240" cy="1097280"/>
          </a:xfrm>
          <a:prstGeom prst="rect">
            <a:avLst/>
          </a:prstGeom>
          <a:solidFill>
            <a:srgbClr val="162E4A"/>
          </a:solidFill>
          <a:ln w="127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3832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C8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8€/año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950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piloto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3291840"/>
            <a:ext cx="1920240" cy="1097280"/>
          </a:xfrm>
          <a:prstGeom prst="rect">
            <a:avLst/>
          </a:prstGeom>
          <a:solidFill>
            <a:srgbClr val="162E4A"/>
          </a:solidFill>
          <a:ln w="127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33832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C8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06040" y="3950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horario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291840"/>
            <a:ext cx="1920240" cy="1097280"/>
          </a:xfrm>
          <a:prstGeom prst="rect">
            <a:avLst/>
          </a:prstGeom>
          <a:solidFill>
            <a:srgbClr val="162E4A"/>
          </a:solidFill>
          <a:ln w="127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33832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C8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0€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54880" y="3950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3291840"/>
            <a:ext cx="1920240" cy="1097280"/>
          </a:xfrm>
          <a:prstGeom prst="rect">
            <a:avLst/>
          </a:prstGeom>
          <a:solidFill>
            <a:srgbClr val="162E4A"/>
          </a:solidFill>
          <a:ln w="127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33832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C8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03720" y="3950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definidas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Mercado y oportunidad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5544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8.200+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Colegios de primaria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España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005840"/>
            <a:ext cx="2651760" cy="1554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09728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~3.400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37560" y="1828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 la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de Madrid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005840"/>
            <a:ext cx="2651760" cy="1554480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09728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2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1828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Necesitan hacer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horario cada año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841248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788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Ventaja competitiva real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⚠️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Alexia / Gescola: módulo de horarios secundario, UX anticuada, precio 500-2000€/año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57530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⚠️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Timetables: potente pero app de escritorio Windows, sin web, sin móvil, sin normativa española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90448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⚠️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Excel: gratis pero no escala, no automatiza, no comparte con profesores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423367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  </a:t>
            </a:r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ventaja: generación automática + explicación de conflictos + móvil + LOMLOE + precio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HorariosEscolares · Estrategia de Negocio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monetización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65960" cy="3794760"/>
          </a:xfrm>
          <a:prstGeom prst="rect">
            <a:avLst/>
          </a:prstGeom>
          <a:solidFill>
            <a:srgbClr val="162E4A"/>
          </a:solidFill>
          <a:ln w="635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972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Gratis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20848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245059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colegio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288950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Ilimitado grupos y profesores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332841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funcionalidades 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376732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directo por email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005840"/>
            <a:ext cx="1965960" cy="3794760"/>
          </a:xfrm>
          <a:prstGeom prst="rect">
            <a:avLst/>
          </a:prstGeom>
          <a:solidFill>
            <a:srgbClr val="F9C846"/>
          </a:solidFill>
          <a:ln w="25400">
            <a:solidFill>
              <a:srgbClr val="F9C8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10972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Básico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06040" y="14813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9€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606040" y="20848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24328" y="245059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colegio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24328" y="288950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24328" y="332841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guardias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24328" y="376732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prioritario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88920" y="4297680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4297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POPULAR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09160" y="1005840"/>
            <a:ext cx="1965960" cy="3794760"/>
          </a:xfrm>
          <a:prstGeom prst="rect">
            <a:avLst/>
          </a:prstGeom>
          <a:solidFill>
            <a:srgbClr val="162E4A"/>
          </a:solidFill>
          <a:ln w="635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10972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Profesional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00600" y="14813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29€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4800600" y="20848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18888" y="245059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Multi-curso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888" y="288950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Excel + iCal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18888" y="332841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cumplimiento normativo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18888" y="376732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integración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03720" y="1005840"/>
            <a:ext cx="1965960" cy="3794760"/>
          </a:xfrm>
          <a:prstGeom prst="rect">
            <a:avLst/>
          </a:prstGeom>
          <a:solidFill>
            <a:srgbClr val="162E4A"/>
          </a:solidFill>
          <a:ln w="6350">
            <a:solidFill>
              <a:srgbClr val="1E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95160" y="10972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95160" y="14813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59€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6995160" y="20848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13448" y="245059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Multi-etapa (infantil+primaria)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13448" y="2889504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Colegios con especialista compartido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13448" y="332841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público del horario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13448" y="376732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personalizado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Estacionalidad: el 80% del uso es junio-septiembre. Priorizar suscripción anual con descuento.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Estrategia de redes sociales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💼  LinkedIn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1069848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F9C846">
              <a:alpha val="80000"/>
            </a:srgbClr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069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274320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" y="148132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F2640"/>
          </a:solidFill>
          <a:ln w="12700">
            <a:solidFill>
              <a:srgbClr val="0F26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posts/semana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8470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Lunes: normativo (LOMLOE, horas por asignatura)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450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Jueves: producto (capturas, casos reales)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7980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Hashtags: #educacion #LOMLOE #directorescolegio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200400"/>
            <a:ext cx="2514600" cy="18288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CBD5E1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91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está el decisor: directores y jefatura de estudios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0" y="1005840"/>
            <a:ext cx="274320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005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🎬  YouTube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00600" y="1069848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F9C846">
              <a:alpha val="80000"/>
            </a:srgbClr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069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largo plazo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91840" y="1389888"/>
            <a:ext cx="274320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01568" y="148132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F2640"/>
          </a:solidFill>
          <a:ln w="12700">
            <a:solidFill>
              <a:srgbClr val="0F26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vídeo/mes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0" y="18470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'Cómo generar el horario en 15 min' (demo)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29000" y="2450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'LOMLOE Madrid: horas por asignatura'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29000" y="27980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Screencast + voz, sin cámara. Coste: 0€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01568" y="3200400"/>
            <a:ext cx="2514600" cy="18288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CBD5E1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29000" y="3291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tutorial bien titulado rankea años en Google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63640" y="1005840"/>
            <a:ext cx="2743200" cy="384048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005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🐦  Twitter/X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772400" y="1069848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F9C846">
              <a:alpha val="80000"/>
            </a:srgbClr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1069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63640" y="1389888"/>
            <a:ext cx="274320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73368" y="148132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0F2640"/>
          </a:solidFill>
          <a:ln w="12700">
            <a:solidFill>
              <a:srgbClr val="0F26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73368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tweets/semana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18470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A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Hilos sobre el motor de generación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00800" y="2450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A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Curiosidades normativas (alto engagement)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0800" y="27980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A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a docentes que usan Excel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73368" y="3200400"/>
            <a:ext cx="2514600" cy="18288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CBD5E1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3291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técnica y docentes early adopters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HorariosEscolares · Estrategia de Negocio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 costes — coste cero en el piloto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20240" cy="347472"/>
          </a:xfrm>
          <a:prstGeom prst="rect">
            <a:avLst/>
          </a:prstGeom>
          <a:solidFill>
            <a:srgbClr val="162E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1005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1005840"/>
            <a:ext cx="2057400" cy="347472"/>
          </a:xfrm>
          <a:prstGeom prst="rect">
            <a:avLst/>
          </a:prstGeom>
          <a:solidFill>
            <a:srgbClr val="162E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9152" y="10058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005840"/>
            <a:ext cx="1417320" cy="347472"/>
          </a:xfrm>
          <a:prstGeom prst="rect">
            <a:avLst/>
          </a:prstGeom>
          <a:solidFill>
            <a:srgbClr val="162E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0058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piloto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005840"/>
            <a:ext cx="3017520" cy="347472"/>
          </a:xfrm>
          <a:prstGeom prst="rect">
            <a:avLst/>
          </a:prstGeom>
          <a:solidFill>
            <a:srgbClr val="162E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25312" y="10058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/ límite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389888"/>
            <a:ext cx="1920240" cy="393192"/>
          </a:xfrm>
          <a:prstGeom prst="rect">
            <a:avLst/>
          </a:prstGeom>
          <a:solidFill>
            <a:srgbClr val="162E4A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1389888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PWA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0" y="1389888"/>
            <a:ext cx="2057400" cy="393192"/>
          </a:xfrm>
          <a:prstGeom prst="rect">
            <a:avLst/>
          </a:prstGeom>
          <a:solidFill>
            <a:srgbClr val="162E4A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9152" y="1389888"/>
            <a:ext cx="1984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0" y="1389888"/>
            <a:ext cx="1417320" cy="393192"/>
          </a:xfrm>
          <a:prstGeom prst="rect">
            <a:avLst/>
          </a:prstGeom>
          <a:solidFill>
            <a:srgbClr val="162E4A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1389888"/>
            <a:ext cx="1344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C8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0€/mes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52160" y="1389888"/>
            <a:ext cx="3017520" cy="393192"/>
          </a:xfrm>
          <a:prstGeom prst="rect">
            <a:avLst/>
          </a:prstGeom>
          <a:solidFill>
            <a:srgbClr val="162E4A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25312" y="1389888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personales ilimitados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1810512"/>
            <a:ext cx="1920240" cy="393192"/>
          </a:xfrm>
          <a:prstGeom prst="rect">
            <a:avLst/>
          </a:prstGeom>
          <a:solidFill>
            <a:srgbClr val="1A3A5C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1810512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API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0" y="1810512"/>
            <a:ext cx="2057400" cy="393192"/>
          </a:xfrm>
          <a:prstGeom prst="rect">
            <a:avLst/>
          </a:prstGeom>
          <a:solidFill>
            <a:srgbClr val="1A3A5C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9152" y="1810512"/>
            <a:ext cx="1984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1810512"/>
            <a:ext cx="1417320" cy="393192"/>
          </a:xfrm>
          <a:prstGeom prst="rect">
            <a:avLst/>
          </a:prstGeom>
          <a:solidFill>
            <a:srgbClr val="1A3A5C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62272" y="1810512"/>
            <a:ext cx="1344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C8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0€/mes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52160" y="1810512"/>
            <a:ext cx="3017520" cy="393192"/>
          </a:xfrm>
          <a:prstGeom prst="rect">
            <a:avLst/>
          </a:prstGeom>
          <a:solidFill>
            <a:srgbClr val="1A3A5C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25312" y="1810512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5$/mes crédito gratis ≈ 500h compute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2231136"/>
            <a:ext cx="1920240" cy="393192"/>
          </a:xfrm>
          <a:prstGeom prst="rect">
            <a:avLst/>
          </a:prstGeom>
          <a:solidFill>
            <a:srgbClr val="162E4A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2231136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Auth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0" y="2231136"/>
            <a:ext cx="2057400" cy="393192"/>
          </a:xfrm>
          <a:prstGeom prst="rect">
            <a:avLst/>
          </a:prstGeom>
          <a:solidFill>
            <a:srgbClr val="162E4A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9152" y="2231136"/>
            <a:ext cx="1984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89120" y="2231136"/>
            <a:ext cx="1417320" cy="393192"/>
          </a:xfrm>
          <a:prstGeom prst="rect">
            <a:avLst/>
          </a:prstGeom>
          <a:solidFill>
            <a:srgbClr val="162E4A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62272" y="2231136"/>
            <a:ext cx="1344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C8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0€/mes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52160" y="2231136"/>
            <a:ext cx="3017520" cy="393192"/>
          </a:xfrm>
          <a:prstGeom prst="rect">
            <a:avLst/>
          </a:prstGeom>
          <a:solidFill>
            <a:srgbClr val="162E4A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25312" y="2231136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500MB · 50k usuarios · 2GB bandwidth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2651760"/>
            <a:ext cx="1920240" cy="393192"/>
          </a:xfrm>
          <a:prstGeom prst="rect">
            <a:avLst/>
          </a:prstGeom>
          <a:solidFill>
            <a:srgbClr val="1A3A5C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2651760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+ CDN + DDoS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86000" y="2651760"/>
            <a:ext cx="2057400" cy="393192"/>
          </a:xfrm>
          <a:prstGeom prst="rect">
            <a:avLst/>
          </a:prstGeom>
          <a:solidFill>
            <a:srgbClr val="1A3A5C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59152" y="2651760"/>
            <a:ext cx="1984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389120" y="2651760"/>
            <a:ext cx="1417320" cy="393192"/>
          </a:xfrm>
          <a:prstGeom prst="rect">
            <a:avLst/>
          </a:prstGeom>
          <a:solidFill>
            <a:srgbClr val="1A3A5C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62272" y="2651760"/>
            <a:ext cx="1344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C8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0€/mes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852160" y="2651760"/>
            <a:ext cx="3017520" cy="393192"/>
          </a:xfrm>
          <a:prstGeom prst="rect">
            <a:avLst/>
          </a:prstGeom>
          <a:solidFill>
            <a:srgbClr val="1A3A5C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2651760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permanente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0040" y="3072384"/>
            <a:ext cx="1920240" cy="393192"/>
          </a:xfrm>
          <a:prstGeom prst="rect">
            <a:avLst/>
          </a:prstGeom>
          <a:solidFill>
            <a:srgbClr val="162E4A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" y="3072384"/>
            <a:ext cx="18470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.es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286000" y="3072384"/>
            <a:ext cx="2057400" cy="393192"/>
          </a:xfrm>
          <a:prstGeom prst="rect">
            <a:avLst/>
          </a:prstGeom>
          <a:solidFill>
            <a:srgbClr val="162E4A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59152" y="3072384"/>
            <a:ext cx="19842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Registrar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389120" y="3072384"/>
            <a:ext cx="1417320" cy="393192"/>
          </a:xfrm>
          <a:prstGeom prst="rect">
            <a:avLst/>
          </a:prstGeom>
          <a:solidFill>
            <a:srgbClr val="162E4A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62272" y="3072384"/>
            <a:ext cx="1344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C8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~8€/año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852160" y="3072384"/>
            <a:ext cx="3017520" cy="393192"/>
          </a:xfrm>
          <a:prstGeom prst="rect">
            <a:avLst/>
          </a:prstGeom>
          <a:solidFill>
            <a:srgbClr val="162E4A"/>
          </a:solidFill>
          <a:ln w="3810">
            <a:solidFill>
              <a:srgbClr val="1E3A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25312" y="3072384"/>
            <a:ext cx="29443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coste, sin markup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20040" y="3493008"/>
            <a:ext cx="8549640" cy="420624"/>
          </a:xfrm>
          <a:prstGeom prst="rect">
            <a:avLst/>
          </a:prstGeom>
          <a:solidFill>
            <a:srgbClr val="2BB5AC"/>
          </a:solidFill>
          <a:ln w="12700">
            <a:solidFill>
              <a:srgbClr val="2BB5A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3192" y="34930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PILOTO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389120" y="349300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~8€/año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852160" y="34930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dominio. Todo lo demás es gratuito.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HorariosEscolares · Estrategia de Negocio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 y proyección de ingresos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8404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0-6 meses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7432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81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gratuito con 2-3 colegios conocidos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0025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real, iterar motor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casos de éxito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0449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5 colegios activos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743200" cy="384048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6-12 meses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389888"/>
            <a:ext cx="27432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29000" y="1481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plan Básico (9€/mes)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9000" y="20025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lanzamiento -30% primeros 20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29000" y="25237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Canal: LinkedIn + grupos directores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9000" y="30449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20 colegios de pago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1005840"/>
            <a:ext cx="274320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005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12+ meses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1389888"/>
            <a:ext cx="27432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14813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a otras CCAA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0" y="20025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 itinerantes multi-colegio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25237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Rayuela / Delphos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0" y="30449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100 colegios, 2.000€ MRR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886200"/>
            <a:ext cx="8503920" cy="18288"/>
          </a:xfrm>
          <a:prstGeom prst="rect">
            <a:avLst/>
          </a:prstGeom>
          <a:solidFill>
            <a:srgbClr val="CBD5E1">
              <a:alpha val="40000"/>
            </a:srgbClr>
          </a:solidFill>
          <a:ln w="12700">
            <a:solidFill>
              <a:srgbClr val="CBD5E1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950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ingresos (plan Básico 9€/mes):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4279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colegios →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25880" y="42793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90€/mes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148840" y="43251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~8€/año coste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54680" y="4279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colegios →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60520" y="42793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270€/mes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83480" y="43251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~46€/mes infra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89320" y="4279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colegios →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95160" y="42793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900€/mes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818120" y="43251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&gt;80%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HorariosEscolares · Estrategia de Negocio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HorariosEscolares — Estrategia de Negocio</dc:title>
  <dc:subject>PptxGenJS Presentation</dc:subject>
  <dc:creator>PptxGenJS</dc:creator>
  <cp:lastModifiedBy>PptxGenJS</cp:lastModifiedBy>
  <cp:revision>1</cp:revision>
  <dcterms:created xsi:type="dcterms:W3CDTF">2026-05-29T22:16:16Z</dcterms:created>
  <dcterms:modified xsi:type="dcterms:W3CDTF">2026-05-29T22:16:16Z</dcterms:modified>
</cp:coreProperties>
</file>