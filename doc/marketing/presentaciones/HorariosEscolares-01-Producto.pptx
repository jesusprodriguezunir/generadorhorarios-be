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6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1A3A5C">
              <a:alpha val="20000"/>
            </a:srgbClr>
          </a:solidFill>
          <a:ln w="12700">
            <a:solidFill>
              <a:srgbClr val="1A3A5C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34440" y="0"/>
            <a:ext cx="548640" cy="5143500"/>
          </a:xfrm>
          <a:prstGeom prst="rect">
            <a:avLst/>
          </a:prstGeom>
          <a:solidFill>
            <a:srgbClr val="1A3A5C">
              <a:alpha val="20000"/>
            </a:srgbClr>
          </a:solidFill>
          <a:ln w="12700">
            <a:solidFill>
              <a:srgbClr val="1A3A5C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0"/>
            <a:ext cx="548640" cy="5143500"/>
          </a:xfrm>
          <a:prstGeom prst="rect">
            <a:avLst/>
          </a:prstGeom>
          <a:solidFill>
            <a:srgbClr val="1A3A5C">
              <a:alpha val="20000"/>
            </a:srgbClr>
          </a:solidFill>
          <a:ln w="12700">
            <a:solidFill>
              <a:srgbClr val="1A3A5C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03320" y="0"/>
            <a:ext cx="548640" cy="5143500"/>
          </a:xfrm>
          <a:prstGeom prst="rect">
            <a:avLst/>
          </a:prstGeom>
          <a:solidFill>
            <a:srgbClr val="1A3A5C">
              <a:alpha val="20000"/>
            </a:srgbClr>
          </a:solidFill>
          <a:ln w="12700">
            <a:solidFill>
              <a:srgbClr val="1A3A5C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37760" y="0"/>
            <a:ext cx="548640" cy="5143500"/>
          </a:xfrm>
          <a:prstGeom prst="rect">
            <a:avLst/>
          </a:prstGeom>
          <a:solidFill>
            <a:srgbClr val="1A3A5C">
              <a:alpha val="20000"/>
            </a:srgbClr>
          </a:solidFill>
          <a:ln w="12700">
            <a:solidFill>
              <a:srgbClr val="1A3A5C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0"/>
            <a:ext cx="548640" cy="5143500"/>
          </a:xfrm>
          <a:prstGeom prst="rect">
            <a:avLst/>
          </a:prstGeom>
          <a:solidFill>
            <a:srgbClr val="1A3A5C">
              <a:alpha val="20000"/>
            </a:srgbClr>
          </a:solidFill>
          <a:ln w="12700">
            <a:solidFill>
              <a:srgbClr val="1A3A5C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06640" y="0"/>
            <a:ext cx="548640" cy="5143500"/>
          </a:xfrm>
          <a:prstGeom prst="rect">
            <a:avLst/>
          </a:prstGeom>
          <a:solidFill>
            <a:srgbClr val="1A3A5C">
              <a:alpha val="20000"/>
            </a:srgbClr>
          </a:solidFill>
          <a:ln w="12700">
            <a:solidFill>
              <a:srgbClr val="1A3A5C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41080" y="0"/>
            <a:ext cx="548640" cy="5143500"/>
          </a:xfrm>
          <a:prstGeom prst="rect">
            <a:avLst/>
          </a:prstGeom>
          <a:solidFill>
            <a:srgbClr val="1A3A5C">
              <a:alpha val="20000"/>
            </a:srgbClr>
          </a:solidFill>
          <a:ln w="12700">
            <a:solidFill>
              <a:srgbClr val="1A3A5C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9144000" cy="18288"/>
          </a:xfrm>
          <a:prstGeom prst="rect">
            <a:avLst/>
          </a:prstGeom>
          <a:solidFill>
            <a:srgbClr val="4ECDC4">
              <a:alpha val="15000"/>
            </a:srgbClr>
          </a:solidFill>
          <a:ln w="12700">
            <a:solidFill>
              <a:srgbClr val="4ECDC4">
                <a:alpha val="1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097280"/>
            <a:ext cx="9144000" cy="18288"/>
          </a:xfrm>
          <a:prstGeom prst="rect">
            <a:avLst/>
          </a:prstGeom>
          <a:solidFill>
            <a:srgbClr val="4ECDC4">
              <a:alpha val="15000"/>
            </a:srgbClr>
          </a:solidFill>
          <a:ln w="12700">
            <a:solidFill>
              <a:srgbClr val="4ECDC4">
                <a:alpha val="1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2194560"/>
            <a:ext cx="9144000" cy="18288"/>
          </a:xfrm>
          <a:prstGeom prst="rect">
            <a:avLst/>
          </a:prstGeom>
          <a:solidFill>
            <a:srgbClr val="4ECDC4">
              <a:alpha val="15000"/>
            </a:srgbClr>
          </a:solidFill>
          <a:ln w="12700">
            <a:solidFill>
              <a:srgbClr val="4ECDC4">
                <a:alpha val="1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3291840"/>
            <a:ext cx="9144000" cy="18288"/>
          </a:xfrm>
          <a:prstGeom prst="rect">
            <a:avLst/>
          </a:prstGeom>
          <a:solidFill>
            <a:srgbClr val="4ECDC4">
              <a:alpha val="15000"/>
            </a:srgbClr>
          </a:solidFill>
          <a:ln w="12700">
            <a:solidFill>
              <a:srgbClr val="4ECDC4">
                <a:alpha val="1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4389120"/>
            <a:ext cx="9144000" cy="18288"/>
          </a:xfrm>
          <a:prstGeom prst="rect">
            <a:avLst/>
          </a:prstGeom>
          <a:solidFill>
            <a:srgbClr val="4ECDC4">
              <a:alpha val="15000"/>
            </a:srgbClr>
          </a:solidFill>
          <a:ln w="12700">
            <a:solidFill>
              <a:srgbClr val="4ECDC4">
                <a:alpha val="1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0"/>
            <a:ext cx="5303520" cy="5143500"/>
          </a:xfrm>
          <a:prstGeom prst="rect">
            <a:avLst/>
          </a:prstGeom>
          <a:solidFill>
            <a:srgbClr val="0F2640"/>
          </a:solidFill>
          <a:ln w="12700">
            <a:solidFill>
              <a:srgbClr val="0F26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0" y="0"/>
            <a:ext cx="54864" cy="514350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640080"/>
            <a:ext cx="1463040" cy="1463040"/>
          </a:xfrm>
          <a:prstGeom prst="rect">
            <a:avLst/>
          </a:prstGeom>
          <a:solidFill>
            <a:srgbClr val="1A3A5C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" y="786384"/>
            <a:ext cx="347472" cy="292608"/>
          </a:xfrm>
          <a:prstGeom prst="rect">
            <a:avLst/>
          </a:prstGeom>
          <a:solidFill>
            <a:srgbClr val="F9C846"/>
          </a:solidFill>
          <a:ln w="6350">
            <a:solidFill>
              <a:srgbClr val="0F26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79576" y="786384"/>
            <a:ext cx="347472" cy="292608"/>
          </a:xfrm>
          <a:prstGeom prst="rect">
            <a:avLst/>
          </a:prstGeom>
          <a:solidFill>
            <a:srgbClr val="4ECDC4">
              <a:alpha val="75000"/>
            </a:srgbClr>
          </a:solidFill>
          <a:ln w="6350">
            <a:solidFill>
              <a:srgbClr val="0F26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09344" y="786384"/>
            <a:ext cx="347472" cy="292608"/>
          </a:xfrm>
          <a:prstGeom prst="rect">
            <a:avLst/>
          </a:prstGeom>
          <a:solidFill>
            <a:srgbClr val="4ECDC4">
              <a:alpha val="75000"/>
            </a:srgbClr>
          </a:solidFill>
          <a:ln w="6350">
            <a:solidFill>
              <a:srgbClr val="0F26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" y="1179576"/>
            <a:ext cx="347472" cy="292608"/>
          </a:xfrm>
          <a:prstGeom prst="rect">
            <a:avLst/>
          </a:prstGeom>
          <a:solidFill>
            <a:srgbClr val="4ECDC4">
              <a:alpha val="75000"/>
            </a:srgbClr>
          </a:solidFill>
          <a:ln w="6350">
            <a:solidFill>
              <a:srgbClr val="0F26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79576" y="1179576"/>
            <a:ext cx="347472" cy="292608"/>
          </a:xfrm>
          <a:prstGeom prst="rect">
            <a:avLst/>
          </a:prstGeom>
          <a:solidFill>
            <a:srgbClr val="F9C846"/>
          </a:solidFill>
          <a:ln w="6350">
            <a:solidFill>
              <a:srgbClr val="0F264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09344" y="1179576"/>
            <a:ext cx="347472" cy="292608"/>
          </a:xfrm>
          <a:prstGeom prst="rect">
            <a:avLst/>
          </a:prstGeom>
          <a:solidFill>
            <a:srgbClr val="4ECDC4">
              <a:alpha val="75000"/>
            </a:srgbClr>
          </a:solidFill>
          <a:ln w="6350">
            <a:solidFill>
              <a:srgbClr val="0F26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9808" y="1572768"/>
            <a:ext cx="347472" cy="292608"/>
          </a:xfrm>
          <a:prstGeom prst="rect">
            <a:avLst/>
          </a:prstGeom>
          <a:solidFill>
            <a:srgbClr val="4ECDC4">
              <a:alpha val="75000"/>
            </a:srgbClr>
          </a:solidFill>
          <a:ln w="6350">
            <a:solidFill>
              <a:srgbClr val="0F264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79576" y="1572768"/>
            <a:ext cx="347472" cy="292608"/>
          </a:xfrm>
          <a:prstGeom prst="rect">
            <a:avLst/>
          </a:prstGeom>
          <a:solidFill>
            <a:srgbClr val="4ECDC4">
              <a:alpha val="75000"/>
            </a:srgbClr>
          </a:solidFill>
          <a:ln w="6350">
            <a:solidFill>
              <a:srgbClr val="0F264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09344" y="1572768"/>
            <a:ext cx="347472" cy="292608"/>
          </a:xfrm>
          <a:prstGeom prst="rect">
            <a:avLst/>
          </a:prstGeom>
          <a:solidFill>
            <a:srgbClr val="F9C846"/>
          </a:solidFill>
          <a:ln w="6350">
            <a:solidFill>
              <a:srgbClr val="0F26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233172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Horarios</a:t>
            </a:r>
            <a:endParaRPr lang="en-US" sz="4200" dirty="0"/>
          </a:p>
        </p:txBody>
      </p:sp>
      <p:sp>
        <p:nvSpPr>
          <p:cNvPr id="28" name="Text 26"/>
          <p:cNvSpPr/>
          <p:nvPr/>
        </p:nvSpPr>
        <p:spPr>
          <a:xfrm>
            <a:off x="594360" y="294436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spc="600" kern="0" dirty="0">
                <a:solidFill>
                  <a:srgbClr val="4ECD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ESCOLARES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594360" y="36118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horario de tu colegio, en 15 minutos.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94360" y="4251960"/>
            <a:ext cx="1828800" cy="411480"/>
          </a:xfrm>
          <a:prstGeom prst="roundRect">
            <a:avLst>
              <a:gd name="adj" fmla="val 11111"/>
            </a:avLst>
          </a:prstGeom>
          <a:solidFill>
            <a:srgbClr val="4ECDC4">
              <a:alpha val="20000"/>
            </a:srgbClr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4251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2025-2026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358384" y="0"/>
            <a:ext cx="3785616" cy="5143500"/>
          </a:xfrm>
          <a:prstGeom prst="rect">
            <a:avLst/>
          </a:prstGeom>
          <a:solidFill>
            <a:srgbClr val="162E4A"/>
          </a:solidFill>
          <a:ln w="12700">
            <a:solidFill>
              <a:srgbClr val="162E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77840" y="320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del profesor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943600" y="731520"/>
            <a:ext cx="475488" cy="228600"/>
          </a:xfrm>
          <a:prstGeom prst="rect">
            <a:avLst/>
          </a:prstGeom>
          <a:solidFill>
            <a:srgbClr val="4ECDC4">
              <a:alpha val="60000"/>
            </a:srgbClr>
          </a:solidFill>
          <a:ln w="12700">
            <a:solidFill>
              <a:srgbClr val="4ECDC4">
                <a:alpha val="6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0" y="731520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492240" y="731520"/>
            <a:ext cx="475488" cy="228600"/>
          </a:xfrm>
          <a:prstGeom prst="rect">
            <a:avLst/>
          </a:prstGeom>
          <a:solidFill>
            <a:srgbClr val="4ECDC4">
              <a:alpha val="60000"/>
            </a:srgbClr>
          </a:solidFill>
          <a:ln w="12700">
            <a:solidFill>
              <a:srgbClr val="4ECDC4">
                <a:alpha val="6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0" y="731520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040880" y="731520"/>
            <a:ext cx="475488" cy="228600"/>
          </a:xfrm>
          <a:prstGeom prst="rect">
            <a:avLst/>
          </a:prstGeom>
          <a:solidFill>
            <a:srgbClr val="4ECDC4">
              <a:alpha val="60000"/>
            </a:srgbClr>
          </a:solidFill>
          <a:ln w="12700">
            <a:solidFill>
              <a:srgbClr val="4ECDC4">
                <a:alpha val="6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40880" y="731520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589520" y="731520"/>
            <a:ext cx="475488" cy="228600"/>
          </a:xfrm>
          <a:prstGeom prst="rect">
            <a:avLst/>
          </a:prstGeom>
          <a:solidFill>
            <a:srgbClr val="4ECDC4">
              <a:alpha val="60000"/>
            </a:srgbClr>
          </a:solidFill>
          <a:ln w="12700">
            <a:solidFill>
              <a:srgbClr val="4ECDC4">
                <a:alpha val="6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89520" y="731520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138160" y="731520"/>
            <a:ext cx="475488" cy="228600"/>
          </a:xfrm>
          <a:prstGeom prst="rect">
            <a:avLst/>
          </a:prstGeom>
          <a:solidFill>
            <a:srgbClr val="4ECDC4">
              <a:alpha val="60000"/>
            </a:srgbClr>
          </a:solidFill>
          <a:ln w="12700">
            <a:solidFill>
              <a:srgbClr val="4ECDC4">
                <a:alpha val="6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138160" y="731520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943600" y="1024128"/>
            <a:ext cx="475488" cy="566928"/>
          </a:xfrm>
          <a:prstGeom prst="rect">
            <a:avLst/>
          </a:prstGeom>
          <a:solidFill>
            <a:srgbClr val="F9C846">
              <a:alpha val="85000"/>
            </a:srgbClr>
          </a:solidFill>
          <a:ln w="6350">
            <a:solidFill>
              <a:srgbClr val="0F264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43600" y="1024128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6492240" y="1024128"/>
            <a:ext cx="475488" cy="566928"/>
          </a:xfrm>
          <a:prstGeom prst="rect">
            <a:avLst/>
          </a:prstGeom>
          <a:solidFill>
            <a:srgbClr val="4ECDC4">
              <a:alpha val="55000"/>
            </a:srgbClr>
          </a:solidFill>
          <a:ln w="6350">
            <a:solidFill>
              <a:srgbClr val="0F264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92240" y="1024128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7040880" y="1024128"/>
            <a:ext cx="475488" cy="566928"/>
          </a:xfrm>
          <a:prstGeom prst="rect">
            <a:avLst/>
          </a:prstGeom>
          <a:solidFill>
            <a:srgbClr val="4ECDC4">
              <a:alpha val="55000"/>
            </a:srgbClr>
          </a:solidFill>
          <a:ln w="6350">
            <a:solidFill>
              <a:srgbClr val="0F264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40880" y="1024128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7589520" y="1024128"/>
            <a:ext cx="475488" cy="566928"/>
          </a:xfrm>
          <a:prstGeom prst="rect">
            <a:avLst/>
          </a:prstGeom>
          <a:solidFill>
            <a:srgbClr val="F9C846">
              <a:alpha val="85000"/>
            </a:srgbClr>
          </a:solidFill>
          <a:ln w="6350">
            <a:solidFill>
              <a:srgbClr val="0F264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89520" y="1024128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ED.F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8138160" y="1024128"/>
            <a:ext cx="475488" cy="566928"/>
          </a:xfrm>
          <a:prstGeom prst="rect">
            <a:avLst/>
          </a:prstGeom>
          <a:solidFill>
            <a:srgbClr val="4ECDC4">
              <a:alpha val="55000"/>
            </a:srgbClr>
          </a:solidFill>
          <a:ln w="6350">
            <a:solidFill>
              <a:srgbClr val="0F264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138160" y="1024128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5577840" y="1024128"/>
            <a:ext cx="32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9:00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5943600" y="1709928"/>
            <a:ext cx="475488" cy="566928"/>
          </a:xfrm>
          <a:prstGeom prst="rect">
            <a:avLst/>
          </a:prstGeom>
          <a:solidFill>
            <a:srgbClr val="4ECDC4">
              <a:alpha val="55000"/>
            </a:srgbClr>
          </a:solidFill>
          <a:ln w="6350">
            <a:solidFill>
              <a:srgbClr val="0F264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943600" y="1709928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6492240" y="1709928"/>
            <a:ext cx="475488" cy="566928"/>
          </a:xfrm>
          <a:prstGeom prst="rect">
            <a:avLst/>
          </a:prstGeom>
          <a:solidFill>
            <a:srgbClr val="F9C846">
              <a:alpha val="85000"/>
            </a:srgbClr>
          </a:solidFill>
          <a:ln w="6350">
            <a:solidFill>
              <a:srgbClr val="0F264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92240" y="1709928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</a:t>
            </a:r>
            <a:endParaRPr lang="en-US" sz="650" dirty="0"/>
          </a:p>
        </p:txBody>
      </p:sp>
      <p:sp>
        <p:nvSpPr>
          <p:cNvPr id="59" name="Shape 57"/>
          <p:cNvSpPr/>
          <p:nvPr/>
        </p:nvSpPr>
        <p:spPr>
          <a:xfrm>
            <a:off x="7040880" y="1709928"/>
            <a:ext cx="475488" cy="566928"/>
          </a:xfrm>
          <a:prstGeom prst="rect">
            <a:avLst/>
          </a:prstGeom>
          <a:solidFill>
            <a:srgbClr val="4ECDC4">
              <a:alpha val="55000"/>
            </a:srgbClr>
          </a:solidFill>
          <a:ln w="6350">
            <a:solidFill>
              <a:srgbClr val="0F264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040880" y="1709928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C.MED</a:t>
            </a:r>
            <a:endParaRPr lang="en-US" sz="650" dirty="0"/>
          </a:p>
        </p:txBody>
      </p:sp>
      <p:sp>
        <p:nvSpPr>
          <p:cNvPr id="61" name="Shape 59"/>
          <p:cNvSpPr/>
          <p:nvPr/>
        </p:nvSpPr>
        <p:spPr>
          <a:xfrm>
            <a:off x="7589520" y="1709928"/>
            <a:ext cx="475488" cy="566928"/>
          </a:xfrm>
          <a:prstGeom prst="rect">
            <a:avLst/>
          </a:prstGeom>
          <a:solidFill>
            <a:srgbClr val="4ECDC4">
              <a:alpha val="55000"/>
            </a:srgbClr>
          </a:solidFill>
          <a:ln w="6350">
            <a:solidFill>
              <a:srgbClr val="0F264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589520" y="1709928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</a:t>
            </a:r>
            <a:endParaRPr lang="en-US" sz="650" dirty="0"/>
          </a:p>
        </p:txBody>
      </p:sp>
      <p:sp>
        <p:nvSpPr>
          <p:cNvPr id="63" name="Shape 61"/>
          <p:cNvSpPr/>
          <p:nvPr/>
        </p:nvSpPr>
        <p:spPr>
          <a:xfrm>
            <a:off x="8138160" y="1709928"/>
            <a:ext cx="475488" cy="566928"/>
          </a:xfrm>
          <a:prstGeom prst="rect">
            <a:avLst/>
          </a:prstGeom>
          <a:solidFill>
            <a:srgbClr val="F9C846">
              <a:alpha val="85000"/>
            </a:srgbClr>
          </a:solidFill>
          <a:ln w="6350">
            <a:solidFill>
              <a:srgbClr val="0F264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138160" y="1709928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5577840" y="1709928"/>
            <a:ext cx="32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10:00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5943600" y="2395728"/>
            <a:ext cx="475488" cy="566928"/>
          </a:xfrm>
          <a:prstGeom prst="rect">
            <a:avLst/>
          </a:prstGeom>
          <a:solidFill>
            <a:srgbClr val="4ECDC4">
              <a:alpha val="55000"/>
            </a:srgbClr>
          </a:solidFill>
          <a:ln w="6350">
            <a:solidFill>
              <a:srgbClr val="0F264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943600" y="2395728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</a:t>
            </a:r>
            <a:endParaRPr lang="en-US" sz="650" dirty="0"/>
          </a:p>
        </p:txBody>
      </p:sp>
      <p:sp>
        <p:nvSpPr>
          <p:cNvPr id="68" name="Shape 66"/>
          <p:cNvSpPr/>
          <p:nvPr/>
        </p:nvSpPr>
        <p:spPr>
          <a:xfrm>
            <a:off x="6492240" y="2395728"/>
            <a:ext cx="475488" cy="566928"/>
          </a:xfrm>
          <a:prstGeom prst="rect">
            <a:avLst/>
          </a:prstGeom>
          <a:solidFill>
            <a:srgbClr val="4ECDC4">
              <a:alpha val="55000"/>
            </a:srgbClr>
          </a:solidFill>
          <a:ln w="6350">
            <a:solidFill>
              <a:srgbClr val="0F264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492240" y="2395728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C.MED</a:t>
            </a:r>
            <a:endParaRPr lang="en-US" sz="650" dirty="0"/>
          </a:p>
        </p:txBody>
      </p:sp>
      <p:sp>
        <p:nvSpPr>
          <p:cNvPr id="70" name="Shape 68"/>
          <p:cNvSpPr/>
          <p:nvPr/>
        </p:nvSpPr>
        <p:spPr>
          <a:xfrm>
            <a:off x="7040880" y="2395728"/>
            <a:ext cx="475488" cy="566928"/>
          </a:xfrm>
          <a:prstGeom prst="rect">
            <a:avLst/>
          </a:prstGeom>
          <a:solidFill>
            <a:srgbClr val="F9C846">
              <a:alpha val="85000"/>
            </a:srgbClr>
          </a:solidFill>
          <a:ln w="6350">
            <a:solidFill>
              <a:srgbClr val="0F264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040880" y="2395728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</a:t>
            </a:r>
            <a:endParaRPr lang="en-US" sz="650" dirty="0"/>
          </a:p>
        </p:txBody>
      </p:sp>
      <p:sp>
        <p:nvSpPr>
          <p:cNvPr id="72" name="Shape 70"/>
          <p:cNvSpPr/>
          <p:nvPr/>
        </p:nvSpPr>
        <p:spPr>
          <a:xfrm>
            <a:off x="7589520" y="2395728"/>
            <a:ext cx="475488" cy="566928"/>
          </a:xfrm>
          <a:prstGeom prst="rect">
            <a:avLst/>
          </a:prstGeom>
          <a:solidFill>
            <a:srgbClr val="4ECDC4">
              <a:alpha val="55000"/>
            </a:srgbClr>
          </a:solidFill>
          <a:ln w="6350">
            <a:solidFill>
              <a:srgbClr val="0F264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589520" y="2395728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</a:t>
            </a:r>
            <a:endParaRPr lang="en-US" sz="650" dirty="0"/>
          </a:p>
        </p:txBody>
      </p:sp>
      <p:sp>
        <p:nvSpPr>
          <p:cNvPr id="74" name="Shape 72"/>
          <p:cNvSpPr/>
          <p:nvPr/>
        </p:nvSpPr>
        <p:spPr>
          <a:xfrm>
            <a:off x="8138160" y="2395728"/>
            <a:ext cx="475488" cy="566928"/>
          </a:xfrm>
          <a:prstGeom prst="rect">
            <a:avLst/>
          </a:prstGeom>
          <a:solidFill>
            <a:srgbClr val="4ECDC4">
              <a:alpha val="55000"/>
            </a:srgbClr>
          </a:solidFill>
          <a:ln w="6350">
            <a:solidFill>
              <a:srgbClr val="0F264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138160" y="2395728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</a:t>
            </a:r>
            <a:endParaRPr lang="en-US" sz="650" dirty="0"/>
          </a:p>
        </p:txBody>
      </p:sp>
      <p:sp>
        <p:nvSpPr>
          <p:cNvPr id="76" name="Text 74"/>
          <p:cNvSpPr/>
          <p:nvPr/>
        </p:nvSpPr>
        <p:spPr>
          <a:xfrm>
            <a:off x="5577840" y="2395728"/>
            <a:ext cx="32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11:00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5943600" y="3081528"/>
            <a:ext cx="475488" cy="566928"/>
          </a:xfrm>
          <a:prstGeom prst="rect">
            <a:avLst/>
          </a:prstGeom>
          <a:solidFill>
            <a:srgbClr val="F9C846">
              <a:alpha val="85000"/>
            </a:srgbClr>
          </a:solidFill>
          <a:ln w="6350">
            <a:solidFill>
              <a:srgbClr val="0F264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943600" y="3081528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ED.F</a:t>
            </a:r>
            <a:endParaRPr lang="en-US" sz="650" dirty="0"/>
          </a:p>
        </p:txBody>
      </p:sp>
      <p:sp>
        <p:nvSpPr>
          <p:cNvPr id="79" name="Shape 77"/>
          <p:cNvSpPr/>
          <p:nvPr/>
        </p:nvSpPr>
        <p:spPr>
          <a:xfrm>
            <a:off x="6492240" y="3081528"/>
            <a:ext cx="475488" cy="566928"/>
          </a:xfrm>
          <a:prstGeom prst="rect">
            <a:avLst/>
          </a:prstGeom>
          <a:solidFill>
            <a:srgbClr val="4ECDC4">
              <a:alpha val="55000"/>
            </a:srgbClr>
          </a:solidFill>
          <a:ln w="6350">
            <a:solidFill>
              <a:srgbClr val="0F264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492240" y="3081528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</a:t>
            </a:r>
            <a:endParaRPr lang="en-US" sz="650" dirty="0"/>
          </a:p>
        </p:txBody>
      </p:sp>
      <p:sp>
        <p:nvSpPr>
          <p:cNvPr id="81" name="Shape 79"/>
          <p:cNvSpPr/>
          <p:nvPr/>
        </p:nvSpPr>
        <p:spPr>
          <a:xfrm>
            <a:off x="7040880" y="3081528"/>
            <a:ext cx="475488" cy="566928"/>
          </a:xfrm>
          <a:prstGeom prst="rect">
            <a:avLst/>
          </a:prstGeom>
          <a:solidFill>
            <a:srgbClr val="4ECDC4">
              <a:alpha val="55000"/>
            </a:srgbClr>
          </a:solidFill>
          <a:ln w="6350">
            <a:solidFill>
              <a:srgbClr val="0F264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040880" y="3081528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</a:t>
            </a:r>
            <a:endParaRPr lang="en-US" sz="650" dirty="0"/>
          </a:p>
        </p:txBody>
      </p:sp>
      <p:sp>
        <p:nvSpPr>
          <p:cNvPr id="83" name="Shape 81"/>
          <p:cNvSpPr/>
          <p:nvPr/>
        </p:nvSpPr>
        <p:spPr>
          <a:xfrm>
            <a:off x="7589520" y="3081528"/>
            <a:ext cx="475488" cy="566928"/>
          </a:xfrm>
          <a:prstGeom prst="rect">
            <a:avLst/>
          </a:prstGeom>
          <a:solidFill>
            <a:srgbClr val="F9C846">
              <a:alpha val="85000"/>
            </a:srgbClr>
          </a:solidFill>
          <a:ln w="6350">
            <a:solidFill>
              <a:srgbClr val="0F264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589520" y="3081528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</a:t>
            </a:r>
            <a:endParaRPr lang="en-US" sz="650" dirty="0"/>
          </a:p>
        </p:txBody>
      </p:sp>
      <p:sp>
        <p:nvSpPr>
          <p:cNvPr id="85" name="Shape 83"/>
          <p:cNvSpPr/>
          <p:nvPr/>
        </p:nvSpPr>
        <p:spPr>
          <a:xfrm>
            <a:off x="8138160" y="3081528"/>
            <a:ext cx="475488" cy="566928"/>
          </a:xfrm>
          <a:prstGeom prst="rect">
            <a:avLst/>
          </a:prstGeom>
          <a:solidFill>
            <a:srgbClr val="4ECDC4">
              <a:alpha val="55000"/>
            </a:srgbClr>
          </a:solidFill>
          <a:ln w="6350">
            <a:solidFill>
              <a:srgbClr val="0F264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138160" y="3081528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</a:t>
            </a:r>
            <a:endParaRPr lang="en-US" sz="650" dirty="0"/>
          </a:p>
        </p:txBody>
      </p:sp>
      <p:sp>
        <p:nvSpPr>
          <p:cNvPr id="87" name="Text 85"/>
          <p:cNvSpPr/>
          <p:nvPr/>
        </p:nvSpPr>
        <p:spPr>
          <a:xfrm>
            <a:off x="5577840" y="3081528"/>
            <a:ext cx="32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12:00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5943600" y="2962656"/>
            <a:ext cx="2788920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943600" y="2962656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RECREO</a:t>
            </a:r>
            <a:endParaRPr lang="en-US" sz="600" dirty="0"/>
          </a:p>
        </p:txBody>
      </p:sp>
      <p:sp>
        <p:nvSpPr>
          <p:cNvPr id="90" name="Shape 88"/>
          <p:cNvSpPr/>
          <p:nvPr/>
        </p:nvSpPr>
        <p:spPr>
          <a:xfrm>
            <a:off x="8549640" y="502920"/>
            <a:ext cx="411480" cy="411480"/>
          </a:xfrm>
          <a:prstGeom prst="ellipse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8549640" y="502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problema que resolvemos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2697480" cy="3291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463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📅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02920" y="21945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Semanas de trabajo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Hacer el horario de un colegio de primaria a mano puede llevar 2-3 semanas de jefatura de estudios.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1280160"/>
            <a:ext cx="2697480" cy="3291840"/>
          </a:xfrm>
          <a:prstGeom prst="rect">
            <a:avLst/>
          </a:prstGeom>
          <a:solidFill>
            <a:srgbClr val="2BB5AC"/>
          </a:solidFill>
          <a:ln w="12700">
            <a:solidFill>
              <a:srgbClr val="2BB5A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20440" y="1463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🔀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474720" y="21945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50.000+ combinaciones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20440" y="278892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problema de optimización matemática real. Excel no está diseñado para resolverlo.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280160"/>
            <a:ext cx="2697480" cy="3291840"/>
          </a:xfrm>
          <a:prstGeom prst="rect">
            <a:avLst/>
          </a:prstGeom>
          <a:solidFill>
            <a:srgbClr val="162E4A"/>
          </a:solidFill>
          <a:ln w="12700">
            <a:solidFill>
              <a:srgbClr val="162E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92240" y="1463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📵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446520" y="21945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 acceso móvil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0" y="278892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profesores reciben el horario en papel o PDF. Sin actualización automática, sin móvil.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HorariosEscolares · Presentación de Producto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6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cero a horario publicado en 15 minutos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234440" y="1188720"/>
            <a:ext cx="1097280" cy="1097280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4440" y="11887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26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246120" y="1664208"/>
            <a:ext cx="137160" cy="137160"/>
          </a:xfrm>
          <a:prstGeom prst="rect">
            <a:avLst/>
          </a:prstGeom>
          <a:solidFill>
            <a:srgbClr val="94A3B8">
              <a:alpha val="70000"/>
            </a:srgbClr>
          </a:solidFill>
          <a:ln w="12700">
            <a:solidFill>
              <a:srgbClr val="94A3B8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2423160"/>
            <a:ext cx="1371600" cy="320040"/>
          </a:xfrm>
          <a:prstGeom prst="roundRect">
            <a:avLst>
              <a:gd name="adj" fmla="val 14286"/>
            </a:avLst>
          </a:prstGeom>
          <a:solidFill>
            <a:srgbClr val="4ECDC4">
              <a:alpha val="30000"/>
            </a:srgbClr>
          </a:solidFill>
          <a:ln w="12700">
            <a:solidFill>
              <a:srgbClr val="4ECDC4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423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8346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Configura tu colegio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342900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grupos, profesores y asignaturas. La plantilla LOMLOE Madrid viene precargada.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160520" y="1188720"/>
            <a:ext cx="1097280" cy="1097280"/>
          </a:xfrm>
          <a:prstGeom prst="ellipse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60520" y="11887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26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6172200" y="1664208"/>
            <a:ext cx="137160" cy="137160"/>
          </a:xfrm>
          <a:prstGeom prst="rect">
            <a:avLst/>
          </a:prstGeom>
          <a:solidFill>
            <a:srgbClr val="94A3B8">
              <a:alpha val="70000"/>
            </a:srgbClr>
          </a:solidFill>
          <a:ln w="12700">
            <a:solidFill>
              <a:srgbClr val="94A3B8">
                <a:alpha val="7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23360" y="2423160"/>
            <a:ext cx="1371600" cy="320040"/>
          </a:xfrm>
          <a:prstGeom prst="roundRect">
            <a:avLst>
              <a:gd name="adj" fmla="val 14286"/>
            </a:avLst>
          </a:prstGeom>
          <a:solidFill>
            <a:srgbClr val="4ECDC4">
              <a:alpha val="30000"/>
            </a:srgbClr>
          </a:solidFill>
          <a:ln w="12700">
            <a:solidFill>
              <a:srgbClr val="4ECDC4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0" y="2423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min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74720" y="28346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 automáticamente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474720" y="342900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motor asigna todas las sesiones respetando restricciones y normativa. Te explica cada conflicto.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086600" y="1188720"/>
            <a:ext cx="1097280" cy="1097280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86600" y="11887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26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20" name="Shape 18"/>
          <p:cNvSpPr/>
          <p:nvPr/>
        </p:nvSpPr>
        <p:spPr>
          <a:xfrm>
            <a:off x="6949440" y="2423160"/>
            <a:ext cx="1371600" cy="320040"/>
          </a:xfrm>
          <a:prstGeom prst="roundRect">
            <a:avLst>
              <a:gd name="adj" fmla="val 14286"/>
            </a:avLst>
          </a:prstGeom>
          <a:solidFill>
            <a:srgbClr val="4ECDC4">
              <a:alpha val="30000"/>
            </a:srgbClr>
          </a:solidFill>
          <a:ln w="12700">
            <a:solidFill>
              <a:srgbClr val="4ECDC4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0" y="2423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28346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Publica y comparte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00800" y="342900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profesor ve su horario en el móvil al instante. Sin papel, sin PDF, sin confusión.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HorariosEscolares · Presentación de Producto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qué HorariosEscolares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27432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88720"/>
            <a:ext cx="54864" cy="160020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9844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7190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Conflictos explicados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no puede asignar algo, te dice exactamente por qué y qué opciones tienes. No un error genérico.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7432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188720"/>
            <a:ext cx="54864" cy="1600200"/>
          </a:xfrm>
          <a:prstGeom prst="rect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129844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429000" y="17190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Móvil para profesores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29000" y="208483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profesor entra con su email y ve su horario. Sin instalar nada. PWA instalable en el móvil.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63640" y="1188720"/>
            <a:ext cx="27432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63640" y="1188720"/>
            <a:ext cx="54864" cy="160020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29844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00800" y="17190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Carga justa detectada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208483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automáticamente si un profesor tiene demasiadas sesiones consecutivas o guardias acumuladas.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3063240"/>
            <a:ext cx="27432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063240"/>
            <a:ext cx="54864" cy="1600200"/>
          </a:xfrm>
          <a:prstGeom prst="rect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1729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57200" y="35935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LOMLOE Madrid incluida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395935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 oficial precargada y editable. Cumplimiento normativo verificado en cada generación.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91840" y="3063240"/>
            <a:ext cx="27432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91840" y="3063240"/>
            <a:ext cx="54864" cy="160020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29000" y="31729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429000" y="35935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minutos desde cero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29000" y="395935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primer horario en menos de 15 minutos desde el registro. Sin manual, sin formación previa.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63640" y="3063240"/>
            <a:ext cx="27432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63640" y="3063240"/>
            <a:ext cx="54864" cy="1600200"/>
          </a:xfrm>
          <a:prstGeom prst="rect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31729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400800" y="35935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Sustituciones del día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00800" y="395935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diario de guardias. Al marcar una ausencia, sugiere automáticamente quién puede cubrir.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HorariosEscolares · Presentación de Producto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6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Comparativa con otras soluciones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743200" cy="384048"/>
          </a:xfrm>
          <a:prstGeom prst="rect">
            <a:avLst/>
          </a:prstGeom>
          <a:solidFill>
            <a:srgbClr val="162E4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063240" y="1097280"/>
            <a:ext cx="1645920" cy="384048"/>
          </a:xfrm>
          <a:prstGeom prst="rect">
            <a:avLst/>
          </a:prstGeom>
          <a:solidFill>
            <a:srgbClr val="162E4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63240" y="10972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manual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1645920" cy="384048"/>
          </a:xfrm>
          <a:prstGeom prst="rect">
            <a:avLst/>
          </a:prstGeom>
          <a:solidFill>
            <a:srgbClr val="162E4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0972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 / Dinantia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46520" y="1097280"/>
            <a:ext cx="2011680" cy="384048"/>
          </a:xfrm>
          <a:prstGeom prst="rect">
            <a:avLst/>
          </a:prstGeom>
          <a:solidFill>
            <a:srgbClr val="4ECDC4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0972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HorariosEscolares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1508760"/>
            <a:ext cx="2743200" cy="438912"/>
          </a:xfrm>
          <a:prstGeom prst="rect">
            <a:avLst/>
          </a:prstGeom>
          <a:solidFill>
            <a:srgbClr val="162E4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50876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automática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063240" y="1508760"/>
            <a:ext cx="1645920" cy="438912"/>
          </a:xfrm>
          <a:prstGeom prst="rect">
            <a:avLst/>
          </a:prstGeom>
          <a:solidFill>
            <a:srgbClr val="162E4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63240" y="150876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1508760"/>
            <a:ext cx="1645920" cy="438912"/>
          </a:xfrm>
          <a:prstGeom prst="rect">
            <a:avLst/>
          </a:prstGeom>
          <a:solidFill>
            <a:srgbClr val="162E4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50876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46520" y="1508760"/>
            <a:ext cx="2011680" cy="438912"/>
          </a:xfrm>
          <a:prstGeom prst="rect">
            <a:avLst/>
          </a:prstGeom>
          <a:solidFill>
            <a:srgbClr val="0D3D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150876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1975104"/>
            <a:ext cx="2743200" cy="438912"/>
          </a:xfrm>
          <a:prstGeom prst="rect">
            <a:avLst/>
          </a:prstGeom>
          <a:solidFill>
            <a:srgbClr val="1A3A5C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1975104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Explicación de conflictos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063240" y="1975104"/>
            <a:ext cx="1645920" cy="438912"/>
          </a:xfrm>
          <a:prstGeom prst="rect">
            <a:avLst/>
          </a:prstGeom>
          <a:solidFill>
            <a:srgbClr val="1A3A5C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63240" y="197510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54880" y="1975104"/>
            <a:ext cx="1645920" cy="438912"/>
          </a:xfrm>
          <a:prstGeom prst="rect">
            <a:avLst/>
          </a:prstGeom>
          <a:solidFill>
            <a:srgbClr val="1A3A5C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197510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46520" y="1975104"/>
            <a:ext cx="2011680" cy="438912"/>
          </a:xfrm>
          <a:prstGeom prst="rect">
            <a:avLst/>
          </a:prstGeom>
          <a:solidFill>
            <a:srgbClr val="0F484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197510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74320" y="2441448"/>
            <a:ext cx="2743200" cy="438912"/>
          </a:xfrm>
          <a:prstGeom prst="rect">
            <a:avLst/>
          </a:prstGeom>
          <a:solidFill>
            <a:srgbClr val="162E4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244144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móvil profesores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063240" y="2441448"/>
            <a:ext cx="1645920" cy="438912"/>
          </a:xfrm>
          <a:prstGeom prst="rect">
            <a:avLst/>
          </a:prstGeom>
          <a:solidFill>
            <a:srgbClr val="162E4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63240" y="244144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754880" y="2441448"/>
            <a:ext cx="1645920" cy="438912"/>
          </a:xfrm>
          <a:prstGeom prst="rect">
            <a:avLst/>
          </a:prstGeom>
          <a:solidFill>
            <a:srgbClr val="162E4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244144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446520" y="2441448"/>
            <a:ext cx="2011680" cy="438912"/>
          </a:xfrm>
          <a:prstGeom prst="rect">
            <a:avLst/>
          </a:prstGeom>
          <a:solidFill>
            <a:srgbClr val="0D3D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46520" y="24414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274320" y="2907792"/>
            <a:ext cx="2743200" cy="438912"/>
          </a:xfrm>
          <a:prstGeom prst="rect">
            <a:avLst/>
          </a:prstGeom>
          <a:solidFill>
            <a:srgbClr val="1A3A5C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290779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 LOMLOE Madrid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063240" y="2907792"/>
            <a:ext cx="1645920" cy="438912"/>
          </a:xfrm>
          <a:prstGeom prst="rect">
            <a:avLst/>
          </a:prstGeom>
          <a:solidFill>
            <a:srgbClr val="1A3A5C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63240" y="290779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754880" y="2907792"/>
            <a:ext cx="1645920" cy="438912"/>
          </a:xfrm>
          <a:prstGeom prst="rect">
            <a:avLst/>
          </a:prstGeom>
          <a:solidFill>
            <a:srgbClr val="1A3A5C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290779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446520" y="2907792"/>
            <a:ext cx="2011680" cy="438912"/>
          </a:xfrm>
          <a:prstGeom prst="rect">
            <a:avLst/>
          </a:prstGeom>
          <a:solidFill>
            <a:srgbClr val="0F484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46520" y="290779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274320" y="3374136"/>
            <a:ext cx="2743200" cy="438912"/>
          </a:xfrm>
          <a:prstGeom prst="rect">
            <a:avLst/>
          </a:prstGeom>
          <a:solidFill>
            <a:srgbClr val="162E4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3374136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15 minutos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063240" y="3374136"/>
            <a:ext cx="1645920" cy="438912"/>
          </a:xfrm>
          <a:prstGeom prst="rect">
            <a:avLst/>
          </a:prstGeom>
          <a:solidFill>
            <a:srgbClr val="162E4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63240" y="3374136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4754880" y="3374136"/>
            <a:ext cx="1645920" cy="438912"/>
          </a:xfrm>
          <a:prstGeom prst="rect">
            <a:avLst/>
          </a:prstGeom>
          <a:solidFill>
            <a:srgbClr val="162E4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54880" y="3374136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6446520" y="3374136"/>
            <a:ext cx="2011680" cy="438912"/>
          </a:xfrm>
          <a:prstGeom prst="rect">
            <a:avLst/>
          </a:prstGeom>
          <a:solidFill>
            <a:srgbClr val="0D3D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46520" y="337413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274320" y="3840480"/>
            <a:ext cx="2743200" cy="438912"/>
          </a:xfrm>
          <a:prstGeom prst="rect">
            <a:avLst/>
          </a:prstGeom>
          <a:solidFill>
            <a:srgbClr val="1A3A5C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4320" y="384048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guardias diario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3063240" y="3840480"/>
            <a:ext cx="1645920" cy="438912"/>
          </a:xfrm>
          <a:prstGeom prst="rect">
            <a:avLst/>
          </a:prstGeom>
          <a:solidFill>
            <a:srgbClr val="1A3A5C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063240" y="384048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4754880" y="3840480"/>
            <a:ext cx="1645920" cy="438912"/>
          </a:xfrm>
          <a:prstGeom prst="rect">
            <a:avLst/>
          </a:prstGeom>
          <a:solidFill>
            <a:srgbClr val="1A3A5C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54880" y="384048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6446520" y="3840480"/>
            <a:ext cx="2011680" cy="438912"/>
          </a:xfrm>
          <a:prstGeom prst="rect">
            <a:avLst/>
          </a:prstGeom>
          <a:solidFill>
            <a:srgbClr val="0F484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46520" y="384048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274320" y="4306824"/>
            <a:ext cx="2743200" cy="438912"/>
          </a:xfrm>
          <a:prstGeom prst="rect">
            <a:avLst/>
          </a:prstGeom>
          <a:solidFill>
            <a:srgbClr val="162E4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74320" y="4306824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mensual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3063240" y="4306824"/>
            <a:ext cx="1645920" cy="438912"/>
          </a:xfrm>
          <a:prstGeom prst="rect">
            <a:avLst/>
          </a:prstGeom>
          <a:solidFill>
            <a:srgbClr val="162E4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063240" y="430682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0€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4754880" y="4306824"/>
            <a:ext cx="1645920" cy="438912"/>
          </a:xfrm>
          <a:prstGeom prst="rect">
            <a:avLst/>
          </a:prstGeom>
          <a:solidFill>
            <a:srgbClr val="162E4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54880" y="430682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500-2000€/año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6446520" y="4306824"/>
            <a:ext cx="2011680" cy="438912"/>
          </a:xfrm>
          <a:prstGeom prst="rect">
            <a:avLst/>
          </a:prstGeom>
          <a:solidFill>
            <a:srgbClr val="0D3D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46520" y="430682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Gratis en piloto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HorariosEscolares · Presentación de Producto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6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371600"/>
            <a:ext cx="5486400" cy="5486400"/>
          </a:xfrm>
          <a:prstGeom prst="ellipse">
            <a:avLst/>
          </a:prstGeom>
          <a:solidFill>
            <a:srgbClr val="4ECDC4">
              <a:alpha val="12000"/>
            </a:srgbClr>
          </a:solidFill>
          <a:ln w="12700">
            <a:solidFill>
              <a:srgbClr val="4ECDC4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1828800"/>
            <a:ext cx="4572000" cy="4572000"/>
          </a:xfrm>
          <a:prstGeom prst="ellipse">
            <a:avLst/>
          </a:prstGeom>
          <a:solidFill>
            <a:srgbClr val="F9C846">
              <a:alpha val="8000"/>
            </a:srgbClr>
          </a:solidFill>
          <a:ln w="12700">
            <a:solidFill>
              <a:srgbClr val="F9C846">
                <a:alpha val="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9144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Empieza gratis.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tarjeta. Sin instalación. Sin compromiso.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560320" y="2651760"/>
            <a:ext cx="4023360" cy="64008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560320" y="26517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26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horariosescolares.es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286000" y="3520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Gratis durante el piloto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86000" y="38313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Datos en España (Supabase EU)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86000" y="41422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Plantilla LOMLOE Madrid incluida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¿Eres director o jefatura de estudios? Contacta para el programa piloto.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HorariosEscolares — Presentación de Producto</dc:title>
  <dc:subject>PptxGenJS Presentation</dc:subject>
  <dc:creator>HorariosEscolares</dc:creator>
  <cp:lastModifiedBy>HorariosEscolares</cp:lastModifiedBy>
  <cp:revision>1</cp:revision>
  <dcterms:created xsi:type="dcterms:W3CDTF">2026-05-29T22:13:04Z</dcterms:created>
  <dcterms:modified xsi:type="dcterms:W3CDTF">2026-05-29T22:13:04Z</dcterms:modified>
</cp:coreProperties>
</file>